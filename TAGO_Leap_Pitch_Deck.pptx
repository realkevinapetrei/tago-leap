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7295" cy="45720"/>
          </a:xfrm>
          <a:prstGeom prst="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600" b="1" i="0">
                <a:solidFill>
                  <a:srgbClr val="FFFFFF"/>
                </a:solidFill>
                <a:latin typeface="Arial"/>
              </a:defRPr>
            </a:pPr>
            <a:r>
              <a:t>TAGO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1">
                <a:solidFill>
                  <a:srgbClr val="FFD633"/>
                </a:solidFill>
                <a:latin typeface="Arial"/>
              </a:defRPr>
            </a:pPr>
            <a:r>
              <a:t>LEAP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1">
                <a:solidFill>
                  <a:srgbClr val="FFFFFF"/>
                </a:solidFill>
                <a:latin typeface="Arial"/>
              </a:defRPr>
            </a:pPr>
            <a:r>
              <a:t>Trade ideas, not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808080"/>
                </a:solidFill>
                <a:latin typeface="Arial"/>
              </a:defRPr>
            </a:pPr>
            <a:r>
              <a:t>AI-Powered Narrative Trading on Hyperliquid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5029200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PEAR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5029200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LIFI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5029200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SALT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808080"/>
                </a:solidFill>
                <a:latin typeface="Arial"/>
              </a:defRPr>
            </a:pPr>
            <a:r>
              <a:t>Hyperstack Hackathon 2025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6537960"/>
            <a:ext cx="11277295" cy="45720"/>
          </a:xfrm>
          <a:prstGeom prst="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D633"/>
                </a:solidFill>
                <a:latin typeface="Arial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2400">
                <a:solidFill>
                  <a:srgbClr val="FFFFFF"/>
                </a:solidFill>
                <a:latin typeface="Arial"/>
              </a:defRPr>
            </a:pPr>
            <a:r>
              <a:t>• Trading is complex - Users manage raw tokens, not market theses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400">
                <a:solidFill>
                  <a:srgbClr val="FFFFFF"/>
                </a:solidFill>
                <a:latin typeface="Arial"/>
              </a:defRPr>
            </a:pPr>
            <a:r>
              <a:t>• Fragmented onboarding - Bridging from other chains is painful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400">
                <a:solidFill>
                  <a:srgbClr val="FFFFFF"/>
                </a:solidFill>
                <a:latin typeface="Arial"/>
              </a:defRPr>
            </a:pPr>
            <a:r>
              <a:t>• Risk management is manual - No automated guardrails for traders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400">
                <a:solidFill>
                  <a:srgbClr val="FFFFFF"/>
                </a:solidFill>
                <a:latin typeface="Arial"/>
              </a:defRPr>
            </a:pPr>
            <a:r>
              <a:t>• No narrative trading - Can't express 'AI will outperform ETH' easily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400">
                <a:solidFill>
                  <a:srgbClr val="FFFFFF"/>
                </a:solidFill>
                <a:latin typeface="Arial"/>
              </a:defRPr>
            </a:pPr>
            <a:r>
              <a:t>• Custody concerns - Automation tools often require giving up control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5029200"/>
            <a:ext cx="2743200" cy="109728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5+ Steps</a:t>
            </a:r>
          </a:p>
          <a:p>
            <a:pPr algn="ctr">
              <a:defRPr sz="1200">
                <a:solidFill>
                  <a:srgbClr val="000000"/>
                </a:solidFill>
                <a:latin typeface="Arial"/>
              </a:defRPr>
            </a:pPr>
            <a:r>
              <a:t>To bridge &amp; trade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5029200"/>
            <a:ext cx="2743200" cy="109728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0 Tools</a:t>
            </a:r>
          </a:p>
          <a:p>
            <a:pPr algn="ctr">
              <a:defRPr sz="1200">
                <a:solidFill>
                  <a:srgbClr val="000000"/>
                </a:solidFill>
                <a:latin typeface="Arial"/>
              </a:defRPr>
            </a:pPr>
            <a:r>
              <a:t>For narrative trading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5029200"/>
            <a:ext cx="2743200" cy="109728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100%</a:t>
            </a:r>
          </a:p>
          <a:p>
            <a:pPr algn="ctr">
              <a:defRPr sz="1200">
                <a:solidFill>
                  <a:srgbClr val="000000"/>
                </a:solidFill>
                <a:latin typeface="Arial"/>
              </a:defRPr>
            </a:pPr>
            <a:r>
              <a:t>Manual risk mgmt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Arial"/>
              </a:defRPr>
            </a:pPr>
            <a:r>
              <a:t>TAGO Leap: 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1">
                <a:solidFill>
                  <a:srgbClr val="808080"/>
                </a:solidFill>
                <a:latin typeface="Arial"/>
              </a:defRPr>
            </a:pPr>
            <a:r>
              <a:t>One platform. Three powerful integrations.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PEAR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Arial"/>
              </a:defRPr>
            </a:pPr>
            <a:r>
              <a:t>Trade Ideas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00400"/>
            <a:ext cx="3200400" cy="2286000"/>
          </a:xfrm>
          <a:prstGeom prst="roundRect">
            <a:avLst/>
          </a:prstGeom>
          <a:solidFill>
            <a:srgbClr val="282828"/>
          </a:solidFill>
          <a:ln w="12700">
            <a:solidFill>
              <a:srgbClr val="FFD6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FFFFFF"/>
                </a:solidFill>
                <a:latin typeface="Arial"/>
              </a:defRPr>
            </a:pPr>
            <a:r>
              <a:t>AI-powered narrative trading</a:t>
            </a:r>
            <a:br/>
            <a:r>
              <a:t>Pair &amp; basket trades</a:t>
            </a:r>
            <a:br/>
            <a:r>
              <a:t>Bet-slip UX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011680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LIFI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Arial"/>
              </a:defRPr>
            </a:pPr>
            <a:r>
              <a:t>One-Click Onboard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200400"/>
            <a:ext cx="3200400" cy="2286000"/>
          </a:xfrm>
          <a:prstGeom prst="roundRect">
            <a:avLst/>
          </a:prstGeom>
          <a:solidFill>
            <a:srgbClr val="282828"/>
          </a:solidFill>
          <a:ln w="12700">
            <a:solidFill>
              <a:srgbClr val="FFD6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38328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FFFFFF"/>
                </a:solidFill>
                <a:latin typeface="Arial"/>
              </a:defRPr>
            </a:pPr>
            <a:r>
              <a:t>Bridge from any chain</a:t>
            </a:r>
            <a:br/>
            <a:r>
              <a:t>Deposit to Hyperliquid</a:t>
            </a:r>
            <a:br/>
            <a:r>
              <a:t>Seamless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SALT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Arial"/>
              </a:defRPr>
            </a:pPr>
            <a:r>
              <a:t>Robo Managers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3200400"/>
            <a:ext cx="3200400" cy="2286000"/>
          </a:xfrm>
          <a:prstGeom prst="roundRect">
            <a:avLst/>
          </a:prstGeom>
          <a:solidFill>
            <a:srgbClr val="282828"/>
          </a:solidFill>
          <a:ln w="12700">
            <a:solidFill>
              <a:srgbClr val="FFD6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38328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FFFFFF"/>
                </a:solidFill>
                <a:latin typeface="Arial"/>
              </a:defRPr>
            </a:pPr>
            <a:r>
              <a:t>Policy-controlled accounts</a:t>
            </a:r>
            <a:br/>
            <a:r>
              <a:t>Automated strategies</a:t>
            </a:r>
            <a:br/>
            <a:r>
              <a:t>Non-custodial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FFD633"/>
                </a:solidFill>
                <a:latin typeface="Arial"/>
              </a:defRPr>
            </a:pPr>
            <a:r>
              <a:t>"Trade ideas, not just single tokens" + "One-click onboarding" + "Never take custody"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PEAR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FFFFFF"/>
                </a:solidFill>
                <a:latin typeface="Arial"/>
              </a:defRPr>
            </a:pPr>
            <a:r>
              <a:t>Narrative Trading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808080"/>
                </a:solidFill>
                <a:latin typeface="Arial"/>
              </a:defRPr>
            </a:pPr>
            <a:r>
              <a:t>"Build tools that let people trade ideas, not just single tokens"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D633"/>
                </a:solidFill>
                <a:latin typeface="Arial"/>
              </a:defRPr>
            </a:pPr>
            <a: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1. Enter your market thesis in plain English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2. AI (Claude) generates trade suggestions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3. Select pair or basket trade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4. Adjust stake, leverage, direction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5. Execute via Pear Protocol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D633"/>
                </a:solidFill>
                <a:latin typeface="Arial"/>
              </a:defRPr>
            </a:pPr>
            <a:r>
              <a:t>Key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2860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Narrative-first UI (themes, not tickers)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Pair trades: Long A / Short B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Basket trades: Long group vs benchmark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Bet-slip UX (stake, direction, risk)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Full trade logging with metadata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846320"/>
            <a:ext cx="11277295" cy="1645920"/>
          </a:xfrm>
          <a:prstGeom prst="roundRect">
            <a:avLst/>
          </a:prstGeom>
          <a:solidFill>
            <a:srgbClr val="282828"/>
          </a:solidFill>
          <a:ln>
            <a:solidFill>
              <a:srgbClr val="FFD6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D633"/>
                </a:solidFill>
                <a:latin typeface="Arial"/>
              </a:defRPr>
            </a:pPr>
            <a:r>
              <a:t>Example Thesis: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FFFFFF"/>
                </a:solidFill>
                <a:latin typeface="Arial"/>
              </a:defRPr>
            </a:pPr>
            <a:r>
              <a:t>"I believe AI tokens will outperform Ethereum over the next month"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808080"/>
                </a:solidFill>
                <a:latin typeface="Arial"/>
              </a:defRPr>
            </a:pPr>
            <a:r>
              <a:t>→ AI suggests: Long RENDER, TAO, FET basket / Short ETH benchmark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LIFI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FFFFFF"/>
                </a:solidFill>
                <a:latin typeface="Arial"/>
              </a:defRPr>
            </a:pPr>
            <a:r>
              <a:t>One-Click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808080"/>
                </a:solidFill>
                <a:latin typeface="Arial"/>
              </a:defRPr>
            </a:pPr>
            <a:r>
              <a:t>"Bridge users from any chain into HyperEVM using LI.FI routing"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011680" cy="640080"/>
          </a:xfrm>
          <a:prstGeom prst="roundRect">
            <a:avLst/>
          </a:prstGeom>
          <a:solidFill>
            <a:srgbClr val="282828"/>
          </a:solidFill>
          <a:ln>
            <a:solidFill>
              <a:srgbClr val="FFD6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Any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1031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FFD633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11680"/>
            <a:ext cx="2011680" cy="640080"/>
          </a:xfrm>
          <a:prstGeom prst="roundRect">
            <a:avLst/>
          </a:prstGeom>
          <a:solidFill>
            <a:srgbClr val="282828"/>
          </a:solidFill>
          <a:ln>
            <a:solidFill>
              <a:srgbClr val="FFD6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LI.FI 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1031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FFD633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011680"/>
            <a:ext cx="2011680" cy="640080"/>
          </a:xfrm>
          <a:prstGeom prst="roundRect">
            <a:avLst/>
          </a:prstGeom>
          <a:solidFill>
            <a:srgbClr val="282828"/>
          </a:solidFill>
          <a:ln>
            <a:solidFill>
              <a:srgbClr val="FFD6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HyperEVM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1031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FFD633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2011680"/>
            <a:ext cx="2011680" cy="640080"/>
          </a:xfrm>
          <a:prstGeom prst="roundRect">
            <a:avLst/>
          </a:prstGeom>
          <a:solidFill>
            <a:srgbClr val="282828"/>
          </a:solidFill>
          <a:ln>
            <a:solidFill>
              <a:srgbClr val="FFD6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Trading Account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17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D633"/>
                </a:solidFill>
                <a:latin typeface="Arial"/>
              </a:defRPr>
            </a:pPr>
            <a:r>
              <a:t>User Experience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Select origin chain + token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See full route summary &amp; ETA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Track progress in real-time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Automatic deposit to trading account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Mobile-first responsive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D633"/>
                </a:solidFill>
                <a:latin typeface="Arial"/>
              </a:defRPr>
            </a:pPr>
            <a:r>
              <a:t>Technical 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5661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Dedicated lifi-service backend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GET /onboard/options - supported chains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POST /onboard/quote - route quotes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POST /onboard/track - progress tracking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Reusable deposit component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669280"/>
            <a:ext cx="4876495" cy="91440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1 Click</a:t>
            </a:r>
          </a:p>
          <a:p>
            <a:pPr algn="ctr">
              <a:defRPr sz="1200">
                <a:solidFill>
                  <a:srgbClr val="000000"/>
                </a:solidFill>
                <a:latin typeface="Arial"/>
              </a:defRPr>
            </a:pPr>
            <a:r>
              <a:t>From any chain to trading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SALT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FFFFFF"/>
                </a:solidFill>
                <a:latin typeface="Arial"/>
              </a:defRPr>
            </a:pPr>
            <a:r>
              <a:t>Policy-Controlled Robo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808080"/>
                </a:solidFill>
                <a:latin typeface="Arial"/>
              </a:defRPr>
            </a:pPr>
            <a:r>
              <a:t>"Automate and manage capital without ever taking custody"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D633"/>
                </a:solidFill>
                <a:latin typeface="Arial"/>
              </a:defRPr>
            </a:pPr>
            <a:r>
              <a:t>Policy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Max Leverage: 1-10x limit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Daily Notional: $100 - $1M cap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Max Drawdown: 1-50% protection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Allowed Pairs: Whitelist only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All rules enforced before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D633"/>
                </a:solidFill>
                <a:latin typeface="Arial"/>
              </a:defRPr>
            </a:pPr>
            <a:r>
              <a:t>Automated Strategies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2860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Mean Reversion: AI vs ETH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SOL Ecosystem vs BTC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DeFi Momentum plays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60-second strategy loop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FFFFFF"/>
                </a:solidFill>
                <a:latin typeface="Arial"/>
              </a:defRPr>
            </a:pPr>
            <a:r>
              <a:t>• Full audit trail in strategy_runs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754880"/>
            <a:ext cx="11277295" cy="1828800"/>
          </a:xfrm>
          <a:prstGeom prst="roundRect">
            <a:avLst/>
          </a:prstGeom>
          <a:solidFill>
            <a:srgbClr val="282828"/>
          </a:solidFill>
          <a:ln w="25400">
            <a:solidFill>
              <a:srgbClr val="FFD6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D633"/>
                </a:solidFill>
                <a:latin typeface="Arial"/>
              </a:defRPr>
            </a:pPr>
            <a:r>
              <a:t>NON-CUSTODIAL BY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94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Arial"/>
              </a:defRPr>
            </a:pPr>
            <a:r>
              <a:t>Your funds stay in YOUR policy-controlled account. The robo manager only instructs trades under strict rules - never holds your assets.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Arial"/>
              </a:defRPr>
            </a:pPr>
            <a:r>
              <a:t>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60320" cy="1828800"/>
          </a:xfrm>
          <a:prstGeom prst="roundRect">
            <a:avLst/>
          </a:prstGeom>
          <a:solidFill>
            <a:srgbClr val="282828"/>
          </a:solidFill>
          <a:ln>
            <a:solidFill>
              <a:srgbClr val="FFD6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D633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Next.js 14</a:t>
            </a:r>
            <a:br/>
            <a:r>
              <a:t>RainbowKit</a:t>
            </a:r>
            <a:br/>
            <a:r>
              <a:t>Tailwind CSS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371600"/>
            <a:ext cx="2560320" cy="1828800"/>
          </a:xfrm>
          <a:prstGeom prst="roundRect">
            <a:avLst/>
          </a:prstGeom>
          <a:solidFill>
            <a:srgbClr val="282828"/>
          </a:solidFill>
          <a:ln>
            <a:solidFill>
              <a:srgbClr val="FFD6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39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D633"/>
                </a:solidFill>
                <a:latin typeface="Arial"/>
              </a:defRPr>
            </a:pPr>
            <a:r>
              <a:t>pear-service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9202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Claude AI</a:t>
            </a:r>
            <a:br/>
            <a:r>
              <a:t>Pear Protocol</a:t>
            </a:r>
            <a:br/>
            <a:r>
              <a:t>Trade Execution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371600"/>
            <a:ext cx="2560320" cy="1828800"/>
          </a:xfrm>
          <a:prstGeom prst="roundRect">
            <a:avLst/>
          </a:prstGeom>
          <a:solidFill>
            <a:srgbClr val="282828"/>
          </a:solidFill>
          <a:ln>
            <a:solidFill>
              <a:srgbClr val="FFD6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D633"/>
                </a:solidFill>
                <a:latin typeface="Arial"/>
              </a:defRPr>
            </a:pPr>
            <a:r>
              <a:t>lifi-service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9202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LI.FI SDK</a:t>
            </a:r>
            <a:br/>
            <a:r>
              <a:t>Route Optimization</a:t>
            </a:r>
            <a:br/>
            <a:r>
              <a:t>Deposit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0" y="1371600"/>
            <a:ext cx="2560320" cy="1828800"/>
          </a:xfrm>
          <a:prstGeom prst="roundRect">
            <a:avLst/>
          </a:prstGeom>
          <a:solidFill>
            <a:srgbClr val="282828"/>
          </a:solidFill>
          <a:ln>
            <a:solidFill>
              <a:srgbClr val="FFD6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D633"/>
                </a:solidFill>
                <a:latin typeface="Arial"/>
              </a:defRPr>
            </a:pPr>
            <a:r>
              <a:t>salt-service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19202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Salt SDK</a:t>
            </a:r>
            <a:br/>
            <a:r>
              <a:t>Policy Engine</a:t>
            </a:r>
            <a:br/>
            <a:r>
              <a:t>Strategy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808080"/>
                </a:solidFill>
                <a:latin typeface="Arial"/>
              </a:defRPr>
            </a:pPr>
            <a:r>
              <a:t>External Integrations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206240"/>
            <a:ext cx="2286000" cy="54864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Hyperliquid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4206240"/>
            <a:ext cx="2286000" cy="54864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Pear Protocol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4206240"/>
            <a:ext cx="2286000" cy="54864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LI.FI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4206240"/>
            <a:ext cx="2286000" cy="54864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Salt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29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808080"/>
                </a:solidFill>
                <a:latin typeface="Arial"/>
              </a:defRPr>
            </a:pPr>
            <a:r>
              <a:t>Tech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FFFFFF"/>
                </a:solidFill>
                <a:latin typeface="Arial"/>
              </a:defRPr>
            </a:pPr>
            <a:r>
              <a:t>TypeScript • Turborepo • Fastify • Supabase • Anthropic Claude • Viem/Wagmi • pnpm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Arial"/>
              </a:defRPr>
            </a:pPr>
            <a: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1">
                <a:solidFill>
                  <a:srgbClr val="FFD633"/>
                </a:solidFill>
                <a:latin typeface="Arial"/>
              </a:defRPr>
            </a:pPr>
            <a:r>
              <a:t>End-to-end: Onboard → Trade → Automate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508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D633"/>
                </a:solidFill>
                <a:latin typeface="Arial"/>
              </a:defRPr>
            </a:pPr>
            <a:r>
              <a:t>ONBOARD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5544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FFFFFF"/>
                </a:solidFill>
                <a:latin typeface="Arial"/>
              </a:defRPr>
            </a:pPr>
            <a:r>
              <a:t>User bridges USDC from Arbitrum to HyperEVM via LI.FI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0" y="1600200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LIFI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86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D633"/>
                </a:solidFill>
                <a:latin typeface="Arial"/>
              </a:defRPr>
            </a:pPr>
            <a:r>
              <a:t>CONNECT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3317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FFFFFF"/>
                </a:solidFill>
                <a:latin typeface="Arial"/>
              </a:defRPr>
            </a:pPr>
            <a:r>
              <a:t>Connect wallet, funds auto-deposit to trading account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0" y="2377439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LIFI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108960"/>
            <a:ext cx="457200" cy="457200"/>
          </a:xfrm>
          <a:prstGeom prst="ellipse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0632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D633"/>
                </a:solidFill>
                <a:latin typeface="Arial"/>
              </a:defRPr>
            </a:pPr>
            <a:r>
              <a:t>THESIS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1089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FFFFFF"/>
                </a:solidFill>
                <a:latin typeface="Arial"/>
              </a:defRPr>
            </a:pPr>
            <a:r>
              <a:t>Enter thesis: "AI will outperform ETH this month"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3154679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PEAR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886200"/>
            <a:ext cx="457200" cy="457200"/>
          </a:xfrm>
          <a:prstGeom prst="ellipse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D633"/>
                </a:solidFill>
                <a:latin typeface="Arial"/>
              </a:defRPr>
            </a:pPr>
            <a:r>
              <a:t>TRADE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8862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FFFFFF"/>
                </a:solidFill>
                <a:latin typeface="Arial"/>
              </a:defRPr>
            </a:pPr>
            <a:r>
              <a:t>AI suggests pair trade, user confirms with bet-slip UI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0" y="3931920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PEAR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663440"/>
            <a:ext cx="457200" cy="457200"/>
          </a:xfrm>
          <a:prstGeom prst="ellipse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617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D633"/>
                </a:solidFill>
                <a:latin typeface="Arial"/>
              </a:defRPr>
            </a:pPr>
            <a:r>
              <a:t>EXECUTE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6634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FFFFFF"/>
                </a:solidFill>
                <a:latin typeface="Arial"/>
              </a:defRPr>
            </a:pPr>
            <a:r>
              <a:t>Trade executes via Pear Protocol on Hyperliquid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0" y="4709159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PEAR</a:t>
            </a:r>
          </a:p>
        </p:txBody>
      </p:sp>
      <p:sp>
        <p:nvSpPr>
          <p:cNvPr id="24" name="Oval 23"/>
          <p:cNvSpPr/>
          <p:nvPr/>
        </p:nvSpPr>
        <p:spPr>
          <a:xfrm>
            <a:off x="548640" y="5440679"/>
            <a:ext cx="457200" cy="457200"/>
          </a:xfrm>
          <a:prstGeom prst="ellipse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3949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D633"/>
                </a:solidFill>
                <a:latin typeface="Arial"/>
              </a:defRPr>
            </a:pPr>
            <a:r>
              <a:t>AUTOMATE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44067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FFFFFF"/>
                </a:solidFill>
                <a:latin typeface="Arial"/>
              </a:defRPr>
            </a:pPr>
            <a:r>
              <a:t>Enable robo manager with risk policies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515600" y="5486399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SALT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FFFFFF"/>
                </a:solidFill>
                <a:latin typeface="Arial"/>
              </a:defRPr>
            </a:pPr>
            <a:r>
              <a:t>Bounty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FFD633"/>
                </a:solidFill>
                <a:latin typeface="Arial"/>
              </a:defRPr>
            </a:pPr>
            <a:r>
              <a:t>All acceptance criteria satisfied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PEAR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rial"/>
              </a:defRPr>
            </a:pPr>
            <a:r>
              <a:t>✓ Trade UI starts from ideas/themes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rial"/>
              </a:defRPr>
            </a:pPr>
            <a:r>
              <a:t>✓ Pair + basket trades wired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rial"/>
              </a:defRPr>
            </a:pPr>
            <a:r>
              <a:t>✓ Narrative metadata logged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rial"/>
              </a:defRPr>
            </a:pPr>
            <a:r>
              <a:t>✓ Bet-slip UX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4903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rial"/>
              </a:defRPr>
            </a:pPr>
            <a:r>
              <a:t>✓ Automation routes to pear-service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LIFI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rial"/>
              </a:defRPr>
            </a:pPr>
            <a:r>
              <a:t>✓ lifi-service endpoints exposed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rial"/>
              </a:defRPr>
            </a:pPr>
            <a:r>
              <a:t>✓ Composable deposit component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rial"/>
              </a:defRPr>
            </a:pPr>
            <a:r>
              <a:t>✓ Quote, ETA, route shown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291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rial"/>
              </a:defRPr>
            </a:pPr>
            <a:r>
              <a:t>✓ Progress &amp; error states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4903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rial"/>
              </a:defRPr>
            </a:pPr>
            <a:r>
              <a:t>✓ Mobile responsive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71600"/>
            <a:ext cx="1097280" cy="36576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SALT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rial"/>
              </a:defRPr>
            </a:pPr>
            <a:r>
              <a:t>✓ Account/policy endpoints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rial"/>
              </a:defRPr>
            </a:pPr>
            <a:r>
              <a:t>✓ Strategy loop runs periodically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rial"/>
              </a:defRPr>
            </a:pPr>
            <a:r>
              <a:t>✓ Policy limits enforced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291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rial"/>
              </a:defRPr>
            </a:pPr>
            <a:r>
              <a:t>✓ Frontend shows all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74903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Arial"/>
              </a:defRPr>
            </a:pPr>
            <a:r>
              <a:t>✓ Non-custodial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035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Arial"/>
              </a:defRPr>
            </a:pPr>
            <a:r>
              <a:t>TAGO Leap delivers on ALL THREE bounties with a cohesive, production-ready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Arial"/>
              </a:defRPr>
            </a:pPr>
            <a:r>
              <a:t>Why TAGO Leap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91440" cy="457200"/>
          </a:xfrm>
          <a:prstGeom prst="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D633"/>
                </a:solidFill>
                <a:latin typeface="Arial"/>
              </a:defRPr>
            </a:pPr>
            <a:r>
              <a:t>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234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Arial"/>
              </a:defRPr>
            </a:pPr>
            <a:r>
              <a:t>First narrative trading platform on Hyperliquid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57400"/>
            <a:ext cx="91440" cy="457200"/>
          </a:xfrm>
          <a:prstGeom prst="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D633"/>
                </a:solidFill>
                <a:latin typeface="Arial"/>
              </a:defRPr>
            </a:pPr>
            <a:r>
              <a:t>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01167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Arial"/>
              </a:defRPr>
            </a:pPr>
            <a:r>
              <a:t>Seamlessly combines PEAR + LIFI + SALT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91440" cy="457200"/>
          </a:xfrm>
          <a:prstGeom prst="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D633"/>
                </a:solidFill>
                <a:latin typeface="Arial"/>
              </a:defRPr>
            </a:pPr>
            <a:r>
              <a:t>User Experience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788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Arial"/>
              </a:defRPr>
            </a:pPr>
            <a:r>
              <a:t>Bet-slip simplicity, not trading terminal complexity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11880"/>
            <a:ext cx="91440" cy="457200"/>
          </a:xfrm>
          <a:prstGeom prst="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D633"/>
                </a:solidFill>
                <a:latin typeface="Arial"/>
              </a:defRPr>
            </a:pPr>
            <a:r>
              <a:t>Safety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566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Arial"/>
              </a:defRPr>
            </a:pPr>
            <a:r>
              <a:t>Non-custodial robo managers with policy enforcement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89120"/>
            <a:ext cx="91440" cy="457200"/>
          </a:xfrm>
          <a:prstGeom prst="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D633"/>
                </a:solidFill>
                <a:latin typeface="Arial"/>
              </a:defRPr>
            </a:pPr>
            <a:r>
              <a:t>Accessibility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Arial"/>
              </a:defRPr>
            </a:pPr>
            <a:r>
              <a:t>One-click onboarding from any blockchain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166359"/>
            <a:ext cx="91440" cy="457200"/>
          </a:xfrm>
          <a:prstGeom prst="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074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D633"/>
                </a:solidFill>
                <a:latin typeface="Arial"/>
              </a:defRPr>
            </a:pPr>
            <a:r>
              <a:t>Production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5120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Arial"/>
              </a:defRPr>
            </a:pPr>
            <a:r>
              <a:t>Clean architecture, full documentation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607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808080"/>
                </a:solidFill>
                <a:latin typeface="Arial"/>
              </a:defRPr>
            </a:pPr>
            <a:r>
              <a:t>"Trade ideas, not just single tokens" - Pear Protocol Vision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7295" cy="45720"/>
          </a:xfrm>
          <a:prstGeom prst="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600" b="1" i="0">
                <a:solidFill>
                  <a:srgbClr val="FFFFFF"/>
                </a:solidFill>
                <a:latin typeface="Arial"/>
              </a:defRPr>
            </a:pPr>
            <a:r>
              <a:t>TAGO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1">
                <a:solidFill>
                  <a:srgbClr val="FFD633"/>
                </a:solidFill>
                <a:latin typeface="Arial"/>
              </a:defRPr>
            </a:pPr>
            <a:r>
              <a:t>LEAP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1">
                <a:solidFill>
                  <a:srgbClr val="FFFFFF"/>
                </a:solidFill>
                <a:latin typeface="Arial"/>
              </a:defRPr>
            </a:pPr>
            <a:r>
              <a:t>The future of narrative trading is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4754880"/>
            <a:ext cx="2286000" cy="73152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PEAR</a:t>
            </a:r>
          </a:p>
          <a:p>
            <a:pPr algn="ctr">
              <a:defRPr sz="1200">
                <a:solidFill>
                  <a:srgbClr val="000000"/>
                </a:solidFill>
                <a:latin typeface="Arial"/>
              </a:defRPr>
            </a:pPr>
            <a:r>
              <a:t>Trade Ideas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4754880"/>
            <a:ext cx="2286000" cy="73152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LIFI</a:t>
            </a:r>
          </a:p>
          <a:p>
            <a:pPr algn="ctr">
              <a:defRPr sz="1200">
                <a:solidFill>
                  <a:srgbClr val="000000"/>
                </a:solidFill>
                <a:latin typeface="Arial"/>
              </a:defRPr>
            </a:pPr>
            <a:r>
              <a:t>1-Click Onboard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4754880"/>
            <a:ext cx="2286000" cy="731520"/>
          </a:xfrm>
          <a:prstGeom prst="round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0000"/>
                </a:solidFill>
                <a:latin typeface="Arial"/>
              </a:defRPr>
            </a:pPr>
            <a:r>
              <a:t>SALT</a:t>
            </a:r>
          </a:p>
          <a:p>
            <a:pPr algn="ctr">
              <a:defRPr sz="1200">
                <a:solidFill>
                  <a:srgbClr val="000000"/>
                </a:solidFill>
                <a:latin typeface="Arial"/>
              </a:defRPr>
            </a:pPr>
            <a:r>
              <a:t>Robo Managers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t>Thank you!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537960"/>
            <a:ext cx="11277295" cy="45720"/>
          </a:xfrm>
          <a:prstGeom prst="rect">
            <a:avLst/>
          </a:prstGeom>
          <a:solidFill>
            <a:srgbClr val="FFD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