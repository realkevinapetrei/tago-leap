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0" b="0" i="0">
                <a:solidFill>
                  <a:srgbClr val="FFFFFF"/>
                </a:solidFill>
                <a:latin typeface="Inter"/>
              </a:defRPr>
            </a:pPr>
            <a:r>
              <a:t>TAGO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728655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000" b="0" i="1">
                <a:solidFill>
                  <a:srgbClr val="FFD633"/>
                </a:solidFill>
                <a:latin typeface="Inter"/>
              </a:defRPr>
            </a:pPr>
            <a:r>
              <a:t>LEAP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b="0" i="1">
                <a:solidFill>
                  <a:srgbClr val="FFFFFF"/>
                </a:solidFill>
                <a:latin typeface="Inter"/>
              </a:defRPr>
            </a:pPr>
            <a:r>
              <a:t>Trade ideas, not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Inter"/>
              </a:defRPr>
            </a:pPr>
            <a:r>
              <a:t>AI-Powered Narrative Trading on Hyperliquid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30352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530352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530352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SALT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Inter"/>
              </a:defRPr>
            </a:pPr>
            <a:r>
              <a:t>Hyperstack Hackathon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92240"/>
            <a:ext cx="10728655" cy="27432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Inter"/>
              </a:rPr>
              <a:t>The </a:t>
            </a:r>
            <a:r>
              <a:rPr sz="4800" i="1" b="0">
                <a:solidFill>
                  <a:srgbClr val="FFD633"/>
                </a:solidFill>
                <a:latin typeface="Inter"/>
              </a:rPr>
              <a:t>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1">
                <a:solidFill>
                  <a:srgbClr val="B3B3B3"/>
                </a:solidFill>
                <a:latin typeface="Inter"/>
              </a:defRPr>
            </a:pPr>
            <a:r>
              <a:t>Hyperliquid is the fastest-growing perps DEX. But onboarding and trading are still too complex.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60320" cy="10972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56032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600" b="0" i="0">
                <a:solidFill>
                  <a:srgbClr val="FFD633"/>
                </a:solidFill>
                <a:latin typeface="Inter"/>
              </a:defRPr>
            </a:pPr>
            <a:r>
              <a:t>$50B+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Inter"/>
              </a:defRPr>
            </a:pPr>
            <a:r>
              <a:t>Daily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286000"/>
            <a:ext cx="2560320" cy="10972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468880"/>
            <a:ext cx="256032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600" b="0" i="0">
                <a:solidFill>
                  <a:srgbClr val="FFD633"/>
                </a:solidFill>
                <a:latin typeface="Inter"/>
              </a:defRPr>
            </a:pPr>
            <a:r>
              <a:t>150K+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26080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Inter"/>
              </a:defRPr>
            </a:pPr>
            <a:r>
              <a:t>Active Traders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2560320" cy="10972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56032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600" b="0" i="0">
                <a:solidFill>
                  <a:srgbClr val="FFD633"/>
                </a:solidFill>
                <a:latin typeface="Inter"/>
              </a:defRPr>
            </a:pPr>
            <a:r>
              <a:t>5+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Inter"/>
              </a:defRPr>
            </a:pPr>
            <a:r>
              <a:t>To Start Trading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2560320" cy="10972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468880"/>
            <a:ext cx="256032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600" b="0" i="0">
                <a:solidFill>
                  <a:srgbClr val="FFD633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926080"/>
            <a:ext cx="25603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Inter"/>
              </a:defRPr>
            </a:pPr>
            <a:r>
              <a:t>Narrative Trading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 i="0">
                <a:solidFill>
                  <a:srgbClr val="FFD633"/>
                </a:solidFill>
                <a:latin typeface="Inter"/>
              </a:defRPr>
            </a:pPr>
            <a:r>
              <a:t>Current Pain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700">
                <a:solidFill>
                  <a:srgbClr val="B3B3B3"/>
                </a:solidFill>
                <a:latin typeface="Inter"/>
              </a:defRPr>
            </a:pPr>
            <a:r>
              <a:t>→  Bridging from other chains requires multiple transactions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700">
                <a:solidFill>
                  <a:srgbClr val="B3B3B3"/>
                </a:solidFill>
                <a:latin typeface="Inter"/>
              </a:defRPr>
            </a:pPr>
            <a:r>
              <a:t>→  Trading interfaces show tickers, not market narratives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700">
                <a:solidFill>
                  <a:srgbClr val="B3B3B3"/>
                </a:solidFill>
                <a:latin typeface="Inter"/>
              </a:defRPr>
            </a:pPr>
            <a:r>
              <a:t>→  Risk management is entirely manual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700">
                <a:solidFill>
                  <a:srgbClr val="B3B3B3"/>
                </a:solidFill>
                <a:latin typeface="Inter"/>
              </a:defRPr>
            </a:pPr>
            <a:r>
              <a:t>→  Automation tools require giving up custody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Inter"/>
              </a:rPr>
              <a:t>The </a:t>
            </a:r>
            <a:r>
              <a:rPr sz="4800" i="1" b="0">
                <a:solidFill>
                  <a:srgbClr val="FFD633"/>
                </a:solidFill>
                <a:latin typeface="Inter"/>
              </a:rPr>
              <a:t>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38404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Inter"/>
              </a:defRPr>
            </a:pPr>
            <a:r>
              <a:t>Complex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01752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Inter"/>
              </a:defRPr>
            </a:pPr>
            <a:r>
              <a:t>Users need 5+ steps to bridge assets and start trading on Hyperliquid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8404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Inter"/>
              </a:defRPr>
            </a:pPr>
            <a:r>
              <a:t>Token-Centric Trading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01752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Inter"/>
              </a:defRPr>
            </a:pPr>
            <a:r>
              <a:t>Traders pick tickers, not theses. No way to express 'AI will beat ETH'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38404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SALT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0175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Inter"/>
              </a:defRPr>
            </a:pPr>
            <a:r>
              <a:t>No Automated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301752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Inter"/>
              </a:defRPr>
            </a:pPr>
            <a:r>
              <a:t>Risk management is manual. Automation means giving up custody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600" b="0" i="1">
                <a:solidFill>
                  <a:srgbClr val="666666"/>
                </a:solidFill>
                <a:latin typeface="Inter"/>
              </a:defRPr>
            </a:pPr>
            <a:r>
              <a:t>Traders need a simpler way to onboard, express market views, and automate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Inter"/>
              </a:rPr>
              <a:t>TAGO </a:t>
            </a:r>
            <a:r>
              <a:rPr sz="4800" i="1" b="0">
                <a:solidFill>
                  <a:srgbClr val="FFD633"/>
                </a:solidFill>
                <a:latin typeface="Inter"/>
              </a:rPr>
              <a:t>Leap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1">
                <a:solidFill>
                  <a:srgbClr val="999999"/>
                </a:solidFill>
                <a:latin typeface="Inter"/>
              </a:defRPr>
            </a:pPr>
            <a:r>
              <a:t>One platform. Three powerful integrations.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3200400" cy="365760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01168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b="0" i="0">
                <a:solidFill>
                  <a:srgbClr val="FFFFFF"/>
                </a:solidFill>
                <a:latin typeface="Inter"/>
              </a:defRPr>
            </a:pPr>
            <a:r>
              <a:t>Trade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AI-powered narrative trading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Pair &amp; basket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Bet-slip simplicity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828800"/>
            <a:ext cx="3200400" cy="365760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06440" y="201168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60320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b="0" i="0">
                <a:solidFill>
                  <a:srgbClr val="FFFFFF"/>
                </a:solidFill>
                <a:latin typeface="Inter"/>
              </a:defRPr>
            </a:pPr>
            <a:r>
              <a:t>One-Click Onboard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200400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Bridge from any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749039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Auto-deposit to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297680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Full route transparency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59" y="1828800"/>
            <a:ext cx="3200400" cy="365760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201168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SALT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2560320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b="0" i="0">
                <a:solidFill>
                  <a:srgbClr val="FFFFFF"/>
                </a:solidFill>
                <a:latin typeface="Inter"/>
              </a:defRPr>
            </a:pPr>
            <a:r>
              <a:t>Robo Managers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200400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Policy-controlled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49039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Automated strategies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297680"/>
            <a:ext cx="2651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100% non-custodial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1">
                <a:solidFill>
                  <a:srgbClr val="FFD633"/>
                </a:solidFill>
                <a:latin typeface="Inter"/>
              </a:defRPr>
            </a:pPr>
            <a:r>
              <a:t>"Trade ideas, not just single tokens" — built for Hyperliquid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i="1" b="0">
                <a:solidFill>
                  <a:srgbClr val="FFD633"/>
                </a:solidFill>
                <a:latin typeface="Inter"/>
              </a:rPr>
              <a:t>Narrative</a:t>
            </a:r>
            <a:r>
              <a:rPr sz="4000" b="0">
                <a:solidFill>
                  <a:srgbClr val="FFFFFF"/>
                </a:solidFill>
                <a:latin typeface="Inter"/>
              </a:rPr>
              <a:t> Trading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Inter"/>
              </a:defRPr>
            </a:pPr>
            <a:r>
              <a:t>"Build tools that let people trade ideas, not just single tokens"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5029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1.  Enter your market thesis in plain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5029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2.  AI (Claude) generates trade suggestions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5029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3.  Select pair or basket trade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5029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4.  Adjust stake, leverage,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5029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5.  Execute via Pear Protocol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Narrative-first UI (themes, not tickers)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51460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Pair trades: Long A / Short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01752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Basket trades: Long group vs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2044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Bet-slip UX (stake → direction → risk)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02336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Full trade logging with 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728655" cy="164592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36576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 i="0">
                <a:solidFill>
                  <a:srgbClr val="FFD633"/>
                </a:solidFill>
                <a:latin typeface="Inter"/>
              </a:defRPr>
            </a:pPr>
            <a:r>
              <a:t>Example Thesis: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058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1">
                <a:solidFill>
                  <a:srgbClr val="FFFFFF"/>
                </a:solidFill>
                <a:latin typeface="Inter"/>
              </a:defRPr>
            </a:pPr>
            <a:r>
              <a:t>"I believe AI tokens will outperform Ethereum over the next month"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Inter"/>
              </a:defRPr>
            </a:pPr>
            <a:r>
              <a:t>→  AI suggests: Long RENDER, TAO, FET basket  /  Short ETH benchmark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i="1" b="0">
                <a:solidFill>
                  <a:srgbClr val="FFD633"/>
                </a:solidFill>
                <a:latin typeface="Inter"/>
              </a:rPr>
              <a:t>One-Click</a:t>
            </a:r>
            <a:r>
              <a:rPr sz="4000" b="0">
                <a:solidFill>
                  <a:srgbClr val="FFFFFF"/>
                </a:solidFill>
                <a:latin typeface="Inter"/>
              </a:rPr>
              <a:t>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Inter"/>
              </a:defRPr>
            </a:pPr>
            <a:r>
              <a:t>"Bridge users from any chain into HyperEVM using LI.FI routing"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377440" cy="54864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Any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74519"/>
            <a:ext cx="548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FFD633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377440" cy="54864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LI.FI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74519"/>
            <a:ext cx="548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FFD633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377440" cy="548640"/>
          </a:xfrm>
          <a:prstGeom prst="roundRect">
            <a:avLst/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HyperEVM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874519"/>
            <a:ext cx="548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FFD633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828800"/>
            <a:ext cx="2377440" cy="54864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Inter"/>
              </a:defRPr>
            </a:pPr>
            <a:r>
              <a:t>Trading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User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Select origin chain +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See full route summary &amp; 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Track progress in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Automatic deposit on arrival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Technical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0040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Dedicated lifi-service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70332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GET /onboard/options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0624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POST /onboard/quote &amp; /track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70916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Reusable deposit component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5212080"/>
            <a:ext cx="3931920" cy="10972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5394960"/>
            <a:ext cx="393192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600" b="0" i="0">
                <a:solidFill>
                  <a:srgbClr val="FFD633"/>
                </a:solidFill>
                <a:latin typeface="Inter"/>
              </a:defRPr>
            </a:pPr>
            <a:r>
              <a:t>1 Click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852160"/>
            <a:ext cx="39319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Inter"/>
              </a:defRPr>
            </a:pPr>
            <a:r>
              <a:t>From Any Chain to Trading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SALT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i="1" b="0">
                <a:solidFill>
                  <a:srgbClr val="FFD633"/>
                </a:solidFill>
                <a:latin typeface="Inter"/>
              </a:rPr>
              <a:t>Policy-Controlled</a:t>
            </a:r>
            <a:r>
              <a:rPr sz="4000" b="0">
                <a:solidFill>
                  <a:srgbClr val="FFFFFF"/>
                </a:solidFill>
                <a:latin typeface="Inter"/>
              </a:rPr>
              <a:t> Robo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Inter"/>
              </a:defRPr>
            </a:pPr>
            <a:r>
              <a:t>"Automate and manage capital without ever taking custody"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Policy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Max Leverage: 1-10x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Daily Notional: $100 - $1M 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Max Drawdown: 1-50%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Allowed Pairs: Whitelist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Automated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Mean Reversion: AI vs ETH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1460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SOL Ecosystem vs BTC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01752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DeFi Momentum plays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52044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→  60-second strategy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728655" cy="20116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0" i="0">
                <a:solidFill>
                  <a:srgbClr val="FFD633"/>
                </a:solidFill>
                <a:latin typeface="Inter"/>
              </a:defRPr>
            </a:pPr>
            <a:r>
              <a:t>NON-CUSTODIAL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0">
                <a:solidFill>
                  <a:srgbClr val="B3B3B3"/>
                </a:solidFill>
                <a:latin typeface="Inter"/>
              </a:defRPr>
            </a:pPr>
            <a:r>
              <a:t>Your funds stay in YOUR policy-controlled account. The robo manager only instructs trades under strict rules — it never holds your assets. Full audit trail in strategy_runs.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i="1" b="0">
                <a:solidFill>
                  <a:srgbClr val="FFD633"/>
                </a:solidFill>
                <a:latin typeface="Inter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377440" cy="20116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FFD633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01168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 i="0">
                <a:solidFill>
                  <a:srgbClr val="B3B3B3"/>
                </a:solidFill>
                <a:latin typeface="Inter"/>
              </a:defRPr>
            </a:pPr>
            <a:r>
              <a:t>Next.js 14</a:t>
            </a:r>
            <a:br/>
            <a:r>
              <a:t>RainbowKit</a:t>
            </a:r>
            <a:br/>
            <a:r>
              <a:t>Tailwind 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371600"/>
            <a:ext cx="2377440" cy="20116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FFD633"/>
                </a:solidFill>
                <a:latin typeface="Inter"/>
              </a:defRPr>
            </a:pPr>
            <a:r>
              <a:t>pear-service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201168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 i="0">
                <a:solidFill>
                  <a:srgbClr val="B3B3B3"/>
                </a:solidFill>
                <a:latin typeface="Inter"/>
              </a:defRPr>
            </a:pPr>
            <a:r>
              <a:t>Claude AI</a:t>
            </a:r>
            <a:br/>
            <a:r>
              <a:t>Pear Protocol</a:t>
            </a:r>
            <a:br/>
            <a:r>
              <a:t>Trade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2377440" cy="20116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FFD633"/>
                </a:solidFill>
                <a:latin typeface="Inter"/>
              </a:defRPr>
            </a:pPr>
            <a:r>
              <a:t>lifi-service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201168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 i="0">
                <a:solidFill>
                  <a:srgbClr val="B3B3B3"/>
                </a:solidFill>
                <a:latin typeface="Inter"/>
              </a:defRPr>
            </a:pPr>
            <a:r>
              <a:t>LI.FI SDK</a:t>
            </a:r>
            <a:br/>
            <a:r>
              <a:t>Route Optimization</a:t>
            </a:r>
            <a:br/>
            <a:r>
              <a:t>Deposit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371600"/>
            <a:ext cx="2377440" cy="201168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554480"/>
            <a:ext cx="23774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FFD633"/>
                </a:solidFill>
                <a:latin typeface="Inter"/>
              </a:defRPr>
            </a:pPr>
            <a:r>
              <a:t>salt-service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011680"/>
            <a:ext cx="201168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 i="0">
                <a:solidFill>
                  <a:srgbClr val="B3B3B3"/>
                </a:solidFill>
                <a:latin typeface="Inter"/>
              </a:defRPr>
            </a:pPr>
            <a:r>
              <a:t>Salt SDK</a:t>
            </a:r>
            <a:br/>
            <a:r>
              <a:t>Policy Engine</a:t>
            </a:r>
            <a:br/>
            <a:r>
              <a:t>Strategy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9144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Inter"/>
              </a:defRPr>
            </a:pPr>
            <a:r>
              <a:t>External Integrations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114800"/>
            <a:ext cx="201168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Hyperliquid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4114800"/>
            <a:ext cx="201168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114800"/>
            <a:ext cx="201168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4114800"/>
            <a:ext cx="201168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Salt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9144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Inter"/>
              </a:defRPr>
            </a:pPr>
            <a:r>
              <a:t>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728655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0">
                <a:solidFill>
                  <a:srgbClr val="B3B3B3"/>
                </a:solidFill>
                <a:latin typeface="Inter"/>
              </a:defRPr>
            </a:pPr>
            <a:r>
              <a:t>TypeScript  •  Turborepo  •  Fastify  •  Supabase  •  Anthropic Claude  •  Viem/Wagmi  •  pnpm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i="1" b="0">
                <a:solidFill>
                  <a:srgbClr val="FFD633"/>
                </a:solidFill>
                <a:latin typeface="Inter"/>
              </a:rPr>
              <a:t>Demo</a:t>
            </a:r>
            <a:r>
              <a:rPr sz="4400" b="0">
                <a:solidFill>
                  <a:srgbClr val="FFFFFF"/>
                </a:solidFill>
                <a:latin typeface="Inter"/>
              </a:rPr>
              <a:t>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1">
                <a:solidFill>
                  <a:srgbClr val="FFD633"/>
                </a:solidFill>
                <a:latin typeface="Inter"/>
              </a:defRPr>
            </a:pPr>
            <a:r>
              <a:t>End-to-end:  Onboard  →  Trade  →  Automate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1828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Onboard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6400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B3B3B3"/>
                </a:solidFill>
                <a:latin typeface="Inter"/>
              </a:defRPr>
            </a:pPr>
            <a:r>
              <a:t>Bridge USDC via LI.FI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664208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828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23160"/>
            <a:ext cx="6400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B3B3B3"/>
                </a:solidFill>
                <a:latin typeface="Inter"/>
              </a:defRPr>
            </a:pPr>
            <a:r>
              <a:t>Wallet auto-deposits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441448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1828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6400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B3B3B3"/>
                </a:solidFill>
                <a:latin typeface="Inter"/>
              </a:defRPr>
            </a:pPr>
            <a:r>
              <a:t>Enter market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3218688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977639"/>
            <a:ext cx="411480" cy="411480"/>
          </a:xfrm>
          <a:prstGeom prst="ellipse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1828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Trade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77639"/>
            <a:ext cx="6400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B3B3B3"/>
                </a:solidFill>
                <a:latin typeface="Inter"/>
              </a:defRPr>
            </a:pPr>
            <a:r>
              <a:t>AI suggests pair trade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995927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754880"/>
            <a:ext cx="411480" cy="411480"/>
          </a:xfrm>
          <a:prstGeom prst="ellipse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09160"/>
            <a:ext cx="1828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754880"/>
            <a:ext cx="6400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B3B3B3"/>
                </a:solidFill>
                <a:latin typeface="Inter"/>
              </a:defRPr>
            </a:pPr>
            <a:r>
              <a:t>Trade via Pear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73168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532120"/>
            <a:ext cx="411480" cy="411480"/>
          </a:xfrm>
          <a:prstGeom prst="ellipse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86400"/>
            <a:ext cx="1828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0" i="0">
                <a:solidFill>
                  <a:srgbClr val="FFD633"/>
                </a:solidFill>
                <a:latin typeface="Inter"/>
              </a:defRPr>
            </a:pPr>
            <a:r>
              <a:t>Automate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32120"/>
            <a:ext cx="6400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 i="0">
                <a:solidFill>
                  <a:srgbClr val="B3B3B3"/>
                </a:solidFill>
                <a:latin typeface="Inter"/>
              </a:defRPr>
            </a:pPr>
            <a:r>
              <a:t>Enable robo manager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550407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SALT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Inter"/>
              </a:rPr>
              <a:t>Bounty </a:t>
            </a:r>
            <a:r>
              <a:rPr sz="4400" i="1" b="0">
                <a:solidFill>
                  <a:srgbClr val="FFD633"/>
                </a:solidFill>
                <a:latin typeface="Inter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1">
                <a:solidFill>
                  <a:srgbClr val="FFD633"/>
                </a:solidFill>
                <a:latin typeface="Inter"/>
              </a:defRPr>
            </a:pPr>
            <a:r>
              <a:t>All acceptance criteria satisfied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Trade UI starts from ideas/themes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39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Pair + basket trades wired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Narrative metadata logged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Bet-slip UX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Automation routes to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lifi-service endpoints exposed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606039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Composable deposit 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10896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Quote, ETA, route 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6118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Progress &amp; error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411480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Mobile responsive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128016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SALT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Account/policy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06039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Strategy loop runs periodically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10896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Policy limits enforced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Frontend shows all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 i="0">
                <a:solidFill>
                  <a:srgbClr val="B3B3B3"/>
                </a:solidFill>
                <a:latin typeface="Inter"/>
              </a:defRPr>
            </a:pPr>
            <a:r>
              <a:t>✓ Non-custodial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728655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0" i="0">
                <a:solidFill>
                  <a:srgbClr val="FFFFFF"/>
                </a:solidFill>
                <a:latin typeface="Inter"/>
              </a:defRPr>
            </a:pPr>
            <a:r>
              <a:t>TAGO Leap delivers on ALL THREE bounties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10728655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Inter"/>
              </a:defRPr>
            </a:pPr>
            <a:r>
              <a:t>with a cohesive, production-ready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Inter"/>
              </a:rPr>
              <a:t>Why </a:t>
            </a:r>
            <a:r>
              <a:rPr sz="4400" i="1" b="0">
                <a:solidFill>
                  <a:srgbClr val="FFD633"/>
                </a:solidFill>
                <a:latin typeface="Inter"/>
              </a:rPr>
              <a:t>TAGO Leap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08760"/>
            <a:ext cx="73152" cy="365760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 i="0">
                <a:solidFill>
                  <a:srgbClr val="FFD633"/>
                </a:solidFill>
                <a:latin typeface="Inter"/>
              </a:defRPr>
            </a:pPr>
            <a:r>
              <a:t>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17320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B3B3B3"/>
                </a:solidFill>
                <a:latin typeface="Inter"/>
              </a:defRPr>
            </a:pPr>
            <a:r>
              <a:t>First narrative trading platform on Hyperliquid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79"/>
            <a:ext cx="73152" cy="365760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 i="0">
                <a:solidFill>
                  <a:srgbClr val="FFD633"/>
                </a:solidFill>
                <a:latin typeface="Inter"/>
              </a:defRPr>
            </a:pPr>
            <a:r>
              <a:t>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39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B3B3B3"/>
                </a:solidFill>
                <a:latin typeface="Inter"/>
              </a:defRPr>
            </a:pPr>
            <a:r>
              <a:t>Seamlessly combines PEAR + LI.FI + SALT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799"/>
            <a:ext cx="73152" cy="365760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39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 i="0">
                <a:solidFill>
                  <a:srgbClr val="FFD633"/>
                </a:solidFill>
                <a:latin typeface="Inter"/>
              </a:defRPr>
            </a:pPr>
            <a:r>
              <a:t>User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80359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B3B3B3"/>
                </a:solidFill>
                <a:latin typeface="Inter"/>
              </a:defRPr>
            </a:pPr>
            <a:r>
              <a:t>Bet-slip simplicity, not trading terminal complexity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03320"/>
            <a:ext cx="73152" cy="365760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59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 i="0">
                <a:solidFill>
                  <a:srgbClr val="FFD633"/>
                </a:solidFill>
                <a:latin typeface="Inter"/>
              </a:defRPr>
            </a:pPr>
            <a: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611879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B3B3B3"/>
                </a:solidFill>
                <a:latin typeface="Inter"/>
              </a:defRPr>
            </a:pPr>
            <a:r>
              <a:t>Non-custodial robo managers with policy enforcement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73152" cy="365760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79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 i="0">
                <a:solidFill>
                  <a:srgbClr val="FFD633"/>
                </a:solidFill>
                <a:latin typeface="Inter"/>
              </a:defRPr>
            </a:pPr>
            <a:r>
              <a:t>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43399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B3B3B3"/>
                </a:solidFill>
                <a:latin typeface="Inter"/>
              </a:defRPr>
            </a:pPr>
            <a:r>
              <a:t>One-click onboarding from any blockchain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66359"/>
            <a:ext cx="73152" cy="365760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199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 i="0">
                <a:solidFill>
                  <a:srgbClr val="FFD633"/>
                </a:solidFill>
                <a:latin typeface="Inter"/>
              </a:defRPr>
            </a:pPr>
            <a:r>
              <a:t>Production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074919"/>
            <a:ext cx="7315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 i="0">
                <a:solidFill>
                  <a:srgbClr val="B3B3B3"/>
                </a:solidFill>
                <a:latin typeface="Inter"/>
              </a:defRPr>
            </a:pPr>
            <a:r>
              <a:t>Clean architecture, comprehensive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 i="1">
                <a:solidFill>
                  <a:srgbClr val="666666"/>
                </a:solidFill>
                <a:latin typeface="Inter"/>
              </a:defRPr>
            </a:pPr>
            <a:r>
              <a:t>"Trade ideas, not just single tokens" — Pear Protocol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0000" b="0" i="0">
                <a:solidFill>
                  <a:srgbClr val="FFFFFF"/>
                </a:solidFill>
                <a:latin typeface="Inter"/>
              </a:defRPr>
            </a:pPr>
            <a:r>
              <a:t>TAGO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7000" b="0" i="1">
                <a:solidFill>
                  <a:srgbClr val="FFD633"/>
                </a:solidFill>
                <a:latin typeface="Inter"/>
              </a:defRPr>
            </a:pPr>
            <a:r>
              <a:t>LEAP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72865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0" i="1">
                <a:solidFill>
                  <a:srgbClr val="FFFFFF"/>
                </a:solidFill>
                <a:latin typeface="Inter"/>
              </a:defRPr>
            </a:pPr>
            <a:r>
              <a:t>The future of narrative trading is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023360"/>
            <a:ext cx="182880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PEAR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4023360"/>
            <a:ext cx="182880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LI.FI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023360"/>
            <a:ext cx="1828800" cy="365760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00000"/>
                </a:solidFill>
                <a:latin typeface="Inter"/>
              </a:defRPr>
            </a:pPr>
            <a:r>
              <a:t>SALT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754880"/>
            <a:ext cx="6705295" cy="1188720"/>
          </a:xfrm>
          <a:prstGeom prst="roundRect">
            <a:avLst>
              <a:gd name="adj" fmla="val 15000"/>
            </a:avLst>
          </a:prstGeom>
          <a:solidFill>
            <a:srgbClr val="0D0D0D"/>
          </a:solidFill>
          <a:ln w="12700">
            <a:solidFill>
              <a:srgbClr val="FFD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937760"/>
            <a:ext cx="6400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 i="0">
                <a:solidFill>
                  <a:srgbClr val="FFD633"/>
                </a:solidFill>
                <a:latin typeface="Inter"/>
              </a:defRPr>
            </a:pPr>
            <a:r>
              <a:t>The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303520"/>
            <a:ext cx="6400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Inter"/>
              </a:defRPr>
            </a:pPr>
            <a:r>
              <a:t>Award TAGO Leap the PEAR, LI.FI, and SALT bounties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Inter"/>
              </a:defRPr>
            </a:pPr>
            <a:r>
              <a:t>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92240"/>
            <a:ext cx="10728655" cy="27432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